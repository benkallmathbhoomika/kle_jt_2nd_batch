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41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19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2939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383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945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34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29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930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79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94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2640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589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00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45321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9839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611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63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C43A0BC-07DE-4545-8815-7EA5B2AF8E12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570ABF0-A2D3-42B0-82DA-7158971636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0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 dirty="0" smtClean="0">
                <a:latin typeface="Algerian" panose="04020705040A02060702" pitchFamily="82" charset="0"/>
              </a:rPr>
              <a:t>Diabetes Prediction</a:t>
            </a:r>
            <a:endParaRPr lang="en-US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67961" y="3583101"/>
            <a:ext cx="5885882" cy="905323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>
                <a:latin typeface="Bahnschrift Condensed" panose="020B0502040204020203" pitchFamily="34" charset="0"/>
              </a:rPr>
              <a:t>Diabetes prediction using machine learning</a:t>
            </a:r>
            <a:endParaRPr lang="en-US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678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014" y="393403"/>
            <a:ext cx="10630786" cy="1265387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            Introduction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014" y="1584250"/>
            <a:ext cx="10630786" cy="4741569"/>
          </a:xfrm>
          <a:solidFill>
            <a:schemeClr val="accent6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dirty="0" smtClean="0"/>
              <a:t>Diabetes prediction uses patient health measurements to predict whether the outcome is diabetic or non-diabetic.</a:t>
            </a:r>
          </a:p>
          <a:p>
            <a:endParaRPr lang="en-US" dirty="0" smtClean="0"/>
          </a:p>
          <a:p>
            <a:r>
              <a:rPr lang="en-US" dirty="0" smtClean="0"/>
              <a:t>The project uses the pima diabetes dataset and a support vector machine classifier.                                </a:t>
            </a:r>
          </a:p>
          <a:p>
            <a:r>
              <a:rPr lang="en-US" dirty="0"/>
              <a:t> </a:t>
            </a:r>
            <a:r>
              <a:rPr lang="en-US" dirty="0" smtClean="0"/>
              <a:t>        </a:t>
            </a:r>
            <a:endParaRPr lang="en-US" dirty="0"/>
          </a:p>
        </p:txBody>
      </p:sp>
      <p:pic>
        <p:nvPicPr>
          <p:cNvPr id="1026" name="Picture 2" descr="Diabetes Images - Free Download on Magnific (formerly Freepik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7275" y="3436776"/>
            <a:ext cx="3252678" cy="251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784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460500"/>
          </a:xfrm>
          <a:solidFill>
            <a:schemeClr val="accent4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Dataset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rgbClr val="FFC000"/>
          </a:solidFill>
        </p:spPr>
        <p:txBody>
          <a:bodyPr>
            <a:normAutofit/>
          </a:bodyPr>
          <a:lstStyle/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Pima Indians diabetes database-768 records.</a:t>
            </a:r>
          </a:p>
          <a:p>
            <a:r>
              <a:rPr lang="en-US" dirty="0" smtClean="0"/>
              <a:t>8 </a:t>
            </a:r>
            <a:r>
              <a:rPr lang="en-US" dirty="0" err="1" smtClean="0"/>
              <a:t>features:pregnancies,glucose,bloodpressure,skin</a:t>
            </a:r>
            <a:r>
              <a:rPr lang="en-US" dirty="0"/>
              <a:t> </a:t>
            </a:r>
            <a:r>
              <a:rPr lang="en-US" dirty="0" smtClean="0"/>
              <a:t>thickness ,</a:t>
            </a:r>
            <a:r>
              <a:rPr lang="en-US" dirty="0" err="1" smtClean="0"/>
              <a:t>insulin,BMI</a:t>
            </a:r>
            <a:r>
              <a:rPr lang="en-US" dirty="0" smtClean="0"/>
              <a:t>, </a:t>
            </a:r>
            <a:r>
              <a:rPr lang="en-US" dirty="0" err="1" smtClean="0"/>
              <a:t>diabetespedigreefunction,age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    target:0=no diabetes,1=diabetes(34.9%positive).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  <p:sp>
        <p:nvSpPr>
          <p:cNvPr id="4" name="Right Arrow 3"/>
          <p:cNvSpPr/>
          <p:nvPr/>
        </p:nvSpPr>
        <p:spPr>
          <a:xfrm>
            <a:off x="1020726" y="4423144"/>
            <a:ext cx="212651" cy="1701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236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  <a:solidFill>
            <a:schemeClr val="accent2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smtClean="0"/>
              <a:t>Data preprocessing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6">
              <a:lumMod val="75000"/>
            </a:schemeClr>
          </a:solidFill>
        </p:spPr>
        <p:txBody>
          <a:bodyPr/>
          <a:lstStyle/>
          <a:p>
            <a:r>
              <a:rPr lang="en-US" dirty="0" smtClean="0"/>
              <a:t>Handled zero values as missing(</a:t>
            </a:r>
            <a:r>
              <a:rPr lang="en-US" dirty="0" err="1" smtClean="0"/>
              <a:t>glucose,bp,BMI</a:t>
            </a:r>
            <a:r>
              <a:rPr lang="en-US" dirty="0" smtClean="0"/>
              <a:t> cannot be 0)</a:t>
            </a:r>
          </a:p>
          <a:p>
            <a:r>
              <a:rPr lang="en-US" dirty="0" smtClean="0"/>
              <a:t>Imputed with median </a:t>
            </a:r>
          </a:p>
          <a:p>
            <a:r>
              <a:rPr lang="en-US" dirty="0" smtClean="0"/>
              <a:t>Feature </a:t>
            </a:r>
            <a:r>
              <a:rPr lang="en-US" dirty="0" err="1" smtClean="0"/>
              <a:t>scaling:standardscaler</a:t>
            </a:r>
            <a:endParaRPr lang="en-US" dirty="0" smtClean="0"/>
          </a:p>
          <a:p>
            <a:r>
              <a:rPr lang="en-US" dirty="0" smtClean="0"/>
              <a:t>Train-test split:80-20,stratified</a:t>
            </a:r>
            <a:endParaRPr lang="en-US" dirty="0"/>
          </a:p>
        </p:txBody>
      </p:sp>
      <p:pic>
        <p:nvPicPr>
          <p:cNvPr id="4098" name="Picture 2" descr="Project ECHO Gives New Mexico's Diabetes Patients Hope - Project ECH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6586" y="3087159"/>
            <a:ext cx="3165031" cy="2619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920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smtClean="0"/>
              <a:t>Models used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US" dirty="0" smtClean="0"/>
              <a:t>Logistic regression-baseline ,interpretable.</a:t>
            </a:r>
          </a:p>
          <a:p>
            <a:r>
              <a:rPr lang="en-US" dirty="0" smtClean="0"/>
              <a:t>Random forest-handles non-linearity.</a:t>
            </a:r>
          </a:p>
          <a:p>
            <a:r>
              <a:rPr lang="en-US" dirty="0" err="1" smtClean="0"/>
              <a:t>XGBoost</a:t>
            </a:r>
            <a:r>
              <a:rPr lang="en-US" dirty="0" smtClean="0"/>
              <a:t>-best </a:t>
            </a:r>
            <a:r>
              <a:rPr lang="en-US" dirty="0" err="1" smtClean="0"/>
              <a:t>performance,regularization</a:t>
            </a:r>
            <a:r>
              <a:rPr lang="en-US" dirty="0" smtClean="0"/>
              <a:t> .</a:t>
            </a:r>
          </a:p>
          <a:p>
            <a:r>
              <a:rPr lang="en-US" dirty="0" err="1" smtClean="0"/>
              <a:t>SVM+Neural</a:t>
            </a:r>
            <a:r>
              <a:rPr lang="en-US" dirty="0" smtClean="0"/>
              <a:t> network-optional comparison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679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  <a:solidFill>
            <a:schemeClr val="accent2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Feature importance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2" y="2493137"/>
            <a:ext cx="9601196" cy="3318936"/>
          </a:xfrm>
          <a:solidFill>
            <a:schemeClr val="tx1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 dirty="0" smtClean="0"/>
              <a:t>Top 3:glucose(0.32),BMI(0.21),Age(0.18)</a:t>
            </a:r>
          </a:p>
          <a:p>
            <a:r>
              <a:rPr lang="en-US" dirty="0" err="1" smtClean="0"/>
              <a:t>Visual:bar</a:t>
            </a:r>
            <a:r>
              <a:rPr lang="en-US" dirty="0" smtClean="0"/>
              <a:t> chart/</a:t>
            </a:r>
            <a:r>
              <a:rPr lang="en-US" dirty="0" err="1" smtClean="0"/>
              <a:t>shap</a:t>
            </a:r>
            <a:r>
              <a:rPr lang="en-US" dirty="0" smtClean="0"/>
              <a:t> values </a:t>
            </a:r>
          </a:p>
          <a:p>
            <a:r>
              <a:rPr lang="en-US" dirty="0" smtClean="0"/>
              <a:t>Medical relevance matches domain knowledge</a:t>
            </a:r>
          </a:p>
          <a:p>
            <a:endParaRPr lang="en-US" dirty="0"/>
          </a:p>
        </p:txBody>
      </p:sp>
      <p:pic>
        <p:nvPicPr>
          <p:cNvPr id="3074" name="Picture 2" descr="Managing Diabetes Through Nutrition: What to Eat for Better Blood Sugar  Contro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8838" y="2785731"/>
            <a:ext cx="2801943" cy="282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389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Limitations and future work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dirty="0" smtClean="0"/>
              <a:t>Dataset limited to female pima population </a:t>
            </a:r>
          </a:p>
          <a:p>
            <a:r>
              <a:rPr lang="en-US" dirty="0" smtClean="0"/>
              <a:t>Need more diverse </a:t>
            </a:r>
            <a:r>
              <a:rPr lang="en-US" dirty="0" err="1" smtClean="0"/>
              <a:t>data,lifestyle</a:t>
            </a:r>
            <a:r>
              <a:rPr lang="en-US" dirty="0" smtClean="0"/>
              <a:t> </a:t>
            </a:r>
            <a:r>
              <a:rPr lang="en-US" dirty="0" err="1" smtClean="0"/>
              <a:t>factores</a:t>
            </a:r>
            <a:endParaRPr lang="en-US" dirty="0" smtClean="0"/>
          </a:p>
          <a:p>
            <a:r>
              <a:rPr lang="en-US" dirty="0" err="1" smtClean="0"/>
              <a:t>Future:add</a:t>
            </a:r>
            <a:r>
              <a:rPr lang="en-US" dirty="0" smtClean="0"/>
              <a:t> </a:t>
            </a:r>
            <a:r>
              <a:rPr lang="en-US" dirty="0" err="1" smtClean="0"/>
              <a:t>HbA</a:t>
            </a:r>
            <a:r>
              <a:rPr lang="en-US" dirty="0" smtClean="0"/>
              <a:t> 1c,integrate with wearable </a:t>
            </a:r>
            <a:r>
              <a:rPr lang="en-US" dirty="0" err="1" smtClean="0"/>
              <a:t>data,real</a:t>
            </a:r>
            <a:r>
              <a:rPr lang="en-US" dirty="0" smtClean="0"/>
              <a:t>-time monitoring</a:t>
            </a:r>
          </a:p>
          <a:p>
            <a:endParaRPr lang="en-US" dirty="0"/>
          </a:p>
        </p:txBody>
      </p:sp>
      <p:pic>
        <p:nvPicPr>
          <p:cNvPr id="2050" name="Picture 2" descr="Diabetes Mellitus - Definition, Types, Causes, Signs and Symptoms,  Diagnosis, managem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2" y="3423684"/>
            <a:ext cx="2286991" cy="210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742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  <a:solidFill>
            <a:schemeClr val="accent2">
              <a:lumMod val="75000"/>
            </a:schemeClr>
          </a:solidFill>
        </p:spPr>
        <p:txBody>
          <a:bodyPr>
            <a:normAutofit fontScale="90000"/>
          </a:bodyPr>
          <a:lstStyle/>
          <a:p>
            <a:r>
              <a:rPr lang="en-US" dirty="0" smtClean="0"/>
              <a:t>Conclusion and Q&amp;A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lvl="3"/>
            <a:r>
              <a:rPr lang="en-US" sz="2800" dirty="0" smtClean="0"/>
              <a:t>ML can predict diabetes with-86% accuracy</a:t>
            </a:r>
          </a:p>
          <a:p>
            <a:pPr lvl="3"/>
            <a:r>
              <a:rPr lang="en-US" sz="2800" dirty="0" smtClean="0"/>
              <a:t>Helps in early screening ,not replacement for doctor</a:t>
            </a:r>
          </a:p>
          <a:p>
            <a:endParaRPr lang="en-US" dirty="0" smtClean="0"/>
          </a:p>
        </p:txBody>
      </p:sp>
      <p:pic>
        <p:nvPicPr>
          <p:cNvPr id="7170" name="Picture 2" descr="World Diabetes Day White Transparent, World Diabetes Day Diabetes Hand  Drawn Instruments, Diabetes, Hand Painted, Instrument PNG Image For Free  Downloa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9229" y="2668773"/>
            <a:ext cx="2902688" cy="1456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42363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 Rounded MT Bold" panose="020F0704030504030204" pitchFamily="34" charset="0"/>
              </a:rPr>
              <a:t>Graph for Diabetic prediction</a:t>
            </a:r>
            <a:endParaRPr lang="en-US" dirty="0">
              <a:latin typeface="Arial Rounded MT Bold" panose="020F0704030504030204" pitchFamily="34" charset="0"/>
            </a:endParaRPr>
          </a:p>
        </p:txBody>
      </p:sp>
      <p:pic>
        <p:nvPicPr>
          <p:cNvPr id="9218" name="Picture 2" descr="Diabetes Chart. Health Care Info Graphic. Vector Design. Stock Vector -  Illustration of insulin, food: 94960848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191" y="2557463"/>
            <a:ext cx="3623617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8924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1653549"/>
            <a:ext cx="9601196" cy="3318936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pPr marL="0" indent="0">
              <a:buNone/>
            </a:pPr>
            <a:endParaRPr lang="en-US" dirty="0" smtClean="0">
              <a:latin typeface="Broadway" panose="04040905080B02020502" pitchFamily="82" charset="0"/>
            </a:endParaRPr>
          </a:p>
          <a:p>
            <a:pPr marL="0" indent="0">
              <a:buNone/>
            </a:pPr>
            <a:endParaRPr lang="en-US" dirty="0">
              <a:latin typeface="Broadway" panose="04040905080B02020502" pitchFamily="82" charset="0"/>
            </a:endParaRPr>
          </a:p>
          <a:p>
            <a:pPr marL="0" indent="0">
              <a:buNone/>
            </a:pPr>
            <a:endParaRPr lang="en-US" dirty="0" smtClean="0">
              <a:latin typeface="Broadway" panose="04040905080B02020502" pitchFamily="82" charset="0"/>
            </a:endParaRPr>
          </a:p>
          <a:p>
            <a:pPr marL="0" indent="0">
              <a:buNone/>
            </a:pPr>
            <a:r>
              <a:rPr lang="en-US" dirty="0" smtClean="0">
                <a:latin typeface="Broadway" panose="04040905080B02020502" pitchFamily="82" charset="0"/>
              </a:rPr>
              <a:t>                                    </a:t>
            </a:r>
            <a:r>
              <a:rPr lang="en-US" sz="6000" dirty="0" smtClean="0">
                <a:latin typeface="Broadway" panose="04040905080B02020502" pitchFamily="82" charset="0"/>
              </a:rPr>
              <a:t>Thank you</a:t>
            </a:r>
            <a:endParaRPr lang="en-US" sz="6000" dirty="0">
              <a:latin typeface="Broadway" panose="04040905080B02020502" pitchFamily="82" charset="0"/>
            </a:endParaRPr>
          </a:p>
        </p:txBody>
      </p:sp>
      <p:pic>
        <p:nvPicPr>
          <p:cNvPr id="5122" name="Picture 2" descr="Diabetes Awareness Ribbon Drop Heart Badge Sticker PNG &amp; SVG Design For  T-Shir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552" y="1911487"/>
            <a:ext cx="2803058" cy="2803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1493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116</TotalTime>
  <Words>159</Words>
  <Application>Microsoft Office PowerPoint</Application>
  <PresentationFormat>Widescreen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Algerian</vt:lpstr>
      <vt:lpstr>Arial</vt:lpstr>
      <vt:lpstr>Arial Rounded MT Bold</vt:lpstr>
      <vt:lpstr>Bahnschrift Condensed</vt:lpstr>
      <vt:lpstr>Broadway</vt:lpstr>
      <vt:lpstr>Garamond</vt:lpstr>
      <vt:lpstr>Organic</vt:lpstr>
      <vt:lpstr>Diabetes Prediction</vt:lpstr>
      <vt:lpstr>            Introduction</vt:lpstr>
      <vt:lpstr>Dataset</vt:lpstr>
      <vt:lpstr>Data preprocessing</vt:lpstr>
      <vt:lpstr>Models used</vt:lpstr>
      <vt:lpstr>Feature importance </vt:lpstr>
      <vt:lpstr>Limitations and future work </vt:lpstr>
      <vt:lpstr>Conclusion and Q&amp;A </vt:lpstr>
      <vt:lpstr>Graph for Diabetic prediction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Diabetes Prediction</dc:title>
  <dc:creator>JT BCA</dc:creator>
  <cp:lastModifiedBy>JT BCA</cp:lastModifiedBy>
  <cp:revision>13</cp:revision>
  <dcterms:created xsi:type="dcterms:W3CDTF">2026-09-25T16:38:52Z</dcterms:created>
  <dcterms:modified xsi:type="dcterms:W3CDTF">2026-09-25T18:35:02Z</dcterms:modified>
</cp:coreProperties>
</file>